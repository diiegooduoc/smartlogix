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Formula" panose="020B0604020202020204" charset="0"/>
      <p:regular r:id="rId15"/>
    </p:embeddedFont>
    <p:embeddedFont>
      <p:font typeface="Formula Bold" panose="020B0604020202020204" charset="0"/>
      <p:regular r:id="rId16"/>
    </p:embeddedFont>
    <p:embeddedFont>
      <p:font typeface="Open Sans" panose="020B0606030504020204" pitchFamily="34" charset="0"/>
      <p:regular r:id="rId17"/>
    </p:embeddedFont>
    <p:embeddedFont>
      <p:font typeface="Open Sans Bold" panose="020B0604020202020204" charset="0"/>
      <p:regular r:id="rId18"/>
    </p:embeddedFont>
    <p:embeddedFont>
      <p:font typeface="Telegraf" panose="020B0604020202020204" charset="0"/>
      <p:regular r:id="rId19"/>
    </p:embeddedFont>
    <p:embeddedFont>
      <p:font typeface="Telegraf Medium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31699F-4170-4AC7-B89A-4C7F48CC6F52}" type="datetimeFigureOut">
              <a:rPr lang="es-CL" smtClean="0"/>
              <a:t>10-05-2026</a:t>
            </a:fld>
            <a:endParaRPr lang="es-C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8D03B-CF0F-4D0E-8D45-22B262078C3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9005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Buenas tardes, profesor. Hoy </a:t>
            </a:r>
            <a:r>
              <a:rPr lang="es-ES" dirty="0" err="1"/>
              <a:t>presentarémos</a:t>
            </a:r>
            <a:r>
              <a:rPr lang="es-ES" dirty="0"/>
              <a:t> </a:t>
            </a:r>
            <a:r>
              <a:rPr lang="es-ES" b="1" dirty="0" err="1"/>
              <a:t>SmartLogix</a:t>
            </a:r>
            <a:r>
              <a:rPr lang="es-ES" dirty="0"/>
              <a:t>, un sistema de gestión de inventarios diseñado bajo un paradigma de arquitectura distribuida. El objetivo central no es solo gestionar stock, sino demostrar cómo una arquitectura de microservicios y un orquestador BFF pueden crear un sistema robusto y escalable.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8D03B-CF0F-4D0E-8D45-22B262078C37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63736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Tradicionalmente, los sistemas se construyen como monolitos. Esto genera problemas: si una parte falla, todo cae, y las bases de datos están tan acopladas que es imposible escalarlas. </a:t>
            </a:r>
            <a:r>
              <a:rPr lang="es-ES" dirty="0" err="1"/>
              <a:t>SmartLogix</a:t>
            </a:r>
            <a:r>
              <a:rPr lang="es-ES" dirty="0"/>
              <a:t> resuelve esto mediante el desacoplamiento total.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8D03B-CF0F-4D0E-8D45-22B262078C37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8381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Este es el núcleo de nuestra propuesta. Implementamos el patrón </a:t>
            </a:r>
            <a:r>
              <a:rPr lang="es-ES" b="1" dirty="0"/>
              <a:t>BFF (</a:t>
            </a:r>
            <a:r>
              <a:rPr lang="es-ES" b="1" dirty="0" err="1"/>
              <a:t>Backend</a:t>
            </a:r>
            <a:r>
              <a:rPr lang="es-ES" b="1" dirty="0"/>
              <a:t> For </a:t>
            </a:r>
            <a:r>
              <a:rPr lang="es-ES" b="1" dirty="0" err="1"/>
              <a:t>Frontend</a:t>
            </a:r>
            <a:r>
              <a:rPr lang="es-ES" b="1" dirty="0"/>
              <a:t>)</a:t>
            </a:r>
            <a:r>
              <a:rPr lang="es-ES" dirty="0"/>
              <a:t>. En lugar de que el </a:t>
            </a:r>
            <a:r>
              <a:rPr lang="es-ES" dirty="0" err="1"/>
              <a:t>React</a:t>
            </a:r>
            <a:r>
              <a:rPr lang="es-ES" dirty="0"/>
              <a:t> hable con tres puertos distintos, el BFF actúa como un puente único. Él orquesta la comunicación con nuestros tres servicios </a:t>
            </a:r>
            <a:r>
              <a:rPr lang="es-ES" dirty="0" err="1"/>
              <a:t>core</a:t>
            </a:r>
            <a:r>
              <a:rPr lang="es-ES" dirty="0"/>
              <a:t>: Auth, </a:t>
            </a:r>
            <a:r>
              <a:rPr lang="es-ES" dirty="0" err="1"/>
              <a:t>Inventory</a:t>
            </a:r>
            <a:r>
              <a:rPr lang="es-ES" dirty="0"/>
              <a:t> y Orders, centralizando la seguridad JWT.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8D03B-CF0F-4D0E-8D45-22B262078C37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5031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Para garantizar la calidad, usamos un arquetipo de Maven </a:t>
            </a:r>
            <a:r>
              <a:rPr lang="es-ES" dirty="0" err="1"/>
              <a:t>Multi-module</a:t>
            </a:r>
            <a:r>
              <a:rPr lang="es-ES" dirty="0"/>
              <a:t>, lo que nos permite compartir configuraciones sin acoplar el código. Además, aplicamos el patrón </a:t>
            </a:r>
            <a:r>
              <a:rPr lang="es-ES" b="1" dirty="0"/>
              <a:t>DTO</a:t>
            </a:r>
            <a:r>
              <a:rPr lang="es-ES" dirty="0"/>
              <a:t> para que las entidades de la base de datos nunca se expongan directamente al </a:t>
            </a:r>
            <a:r>
              <a:rPr lang="es-ES" dirty="0" err="1"/>
              <a:t>Frontend</a:t>
            </a:r>
            <a:r>
              <a:rPr lang="es-ES" dirty="0"/>
              <a:t>, mejorando la seguridad de los datos.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8D03B-CF0F-4D0E-8D45-22B262078C37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694226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este diagrama de clases vemos la lógica de negocio. Lo más importante aquí es notar que las relaciones entre </a:t>
            </a:r>
            <a:r>
              <a:rPr lang="es-ES" dirty="0" err="1"/>
              <a:t>User</a:t>
            </a:r>
            <a:r>
              <a:rPr lang="es-ES" dirty="0"/>
              <a:t>, </a:t>
            </a:r>
            <a:r>
              <a:rPr lang="es-ES" dirty="0" err="1"/>
              <a:t>Product</a:t>
            </a:r>
            <a:r>
              <a:rPr lang="es-ES" dirty="0"/>
              <a:t> y </a:t>
            </a:r>
            <a:r>
              <a:rPr lang="es-ES" dirty="0" err="1"/>
              <a:t>Order</a:t>
            </a:r>
            <a:r>
              <a:rPr lang="es-ES" dirty="0"/>
              <a:t> no son llaves foráneas físicas. Usamos </a:t>
            </a:r>
            <a:r>
              <a:rPr lang="es-ES" b="1" dirty="0" err="1"/>
              <a:t>IDs</a:t>
            </a:r>
            <a:r>
              <a:rPr lang="es-ES" b="1" dirty="0"/>
              <a:t> de referencia</a:t>
            </a:r>
            <a:r>
              <a:rPr lang="es-ES" dirty="0"/>
              <a:t>, lo que nos permite que cada microservicio sea dueño absoluto de sus datos, respetando la autonomía de la arquitectura.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8D03B-CF0F-4D0E-8D45-22B262078C37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76472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Como pueden ver, gestionamos tres bases de datos independientes en </a:t>
            </a:r>
            <a:r>
              <a:rPr lang="es-ES" dirty="0" err="1"/>
              <a:t>Laragon</a:t>
            </a:r>
            <a:r>
              <a:rPr lang="es-ES" dirty="0"/>
              <a:t>. Si el servicio de Órdenes necesita mantenimiento, el Inventario puede seguir funcionando. Este aislamiento de fallos es la mayor ventaja competitiva de nuestro diseño.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8D03B-CF0F-4D0E-8D45-22B262078C37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6863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Respecto al control de calidad, seguimos una estrategia </a:t>
            </a:r>
            <a:r>
              <a:rPr lang="es-ES" b="1" dirty="0" err="1"/>
              <a:t>GitFlow</a:t>
            </a:r>
            <a:r>
              <a:rPr lang="es-ES" dirty="0"/>
              <a:t>. Desarrollamos cada funcionalidad en ramas </a:t>
            </a:r>
            <a:r>
              <a:rPr lang="es-E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feature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s-ES" dirty="0"/>
              <a:t>, las integramos en </a:t>
            </a:r>
            <a:r>
              <a:rPr lang="es-E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</a:t>
            </a:r>
            <a:r>
              <a:rPr lang="es-ES" dirty="0"/>
              <a:t> y solo cuando el código es 100% estable, lo movemos a </a:t>
            </a:r>
            <a:r>
              <a:rPr lang="es-E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s-ES" dirty="0"/>
              <a:t>. Recientemente, realizamos un Pull </a:t>
            </a:r>
            <a:r>
              <a:rPr lang="es-ES" dirty="0" err="1"/>
              <a:t>Request</a:t>
            </a:r>
            <a:r>
              <a:rPr lang="es-ES" dirty="0"/>
              <a:t> exitoso para documentar este hito de integración.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8D03B-CF0F-4D0E-8D45-22B262078C37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383351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(SE LEE LO DE LA DIAPOSITIVA)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8D03B-CF0F-4D0E-8D45-22B262078C37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845415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Diseñamos pensando en el valor. El Administrador tiene control total del stock crítico para evitar quiebres de ventas, mientras que el Usuario final disfruta de una experiencia rápida y sin errores en sus pedidos.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8D03B-CF0F-4D0E-8D45-22B262078C37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068354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Gracias a la orquestación del BFF y la optimización de las </a:t>
            </a:r>
            <a:r>
              <a:rPr lang="es-ES" dirty="0" err="1"/>
              <a:t>APIs</a:t>
            </a:r>
            <a:r>
              <a:rPr lang="es-ES" dirty="0"/>
              <a:t> en Spring Boot, hemos logrado tiempos de respuesta menores a 1 segundo, cumpliendo con los estándares de rendimiento más exigentes.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8D03B-CF0F-4D0E-8D45-22B262078C37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79028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Nuestras herramientas: Java 21 y Spring Boot 3 para el </a:t>
            </a:r>
            <a:r>
              <a:rPr lang="es-ES" dirty="0" err="1"/>
              <a:t>backend</a:t>
            </a:r>
            <a:r>
              <a:rPr lang="es-ES" dirty="0"/>
              <a:t>, </a:t>
            </a:r>
            <a:r>
              <a:rPr lang="es-ES" dirty="0" err="1"/>
              <a:t>React</a:t>
            </a:r>
            <a:r>
              <a:rPr lang="es-ES" dirty="0"/>
              <a:t> para una interfaz moderna y </a:t>
            </a:r>
            <a:r>
              <a:rPr lang="es-ES" dirty="0" err="1"/>
              <a:t>Laragon</a:t>
            </a:r>
            <a:r>
              <a:rPr lang="es-ES" dirty="0"/>
              <a:t> para simular un entorno de despliegue profesional.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8D03B-CF0F-4D0E-8D45-22B262078C37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78520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8369715" y="1683675"/>
            <a:ext cx="12074842" cy="8603325"/>
          </a:xfrm>
          <a:custGeom>
            <a:avLst/>
            <a:gdLst/>
            <a:ahLst/>
            <a:cxnLst/>
            <a:rect l="l" t="t" r="r" b="b"/>
            <a:pathLst>
              <a:path w="12074842" h="8603325">
                <a:moveTo>
                  <a:pt x="12074841" y="0"/>
                </a:moveTo>
                <a:lnTo>
                  <a:pt x="0" y="0"/>
                </a:lnTo>
                <a:lnTo>
                  <a:pt x="0" y="8603325"/>
                </a:lnTo>
                <a:lnTo>
                  <a:pt x="12074841" y="8603325"/>
                </a:lnTo>
                <a:lnTo>
                  <a:pt x="1207484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3815426" y="1683675"/>
            <a:ext cx="4472574" cy="5039520"/>
          </a:xfrm>
          <a:custGeom>
            <a:avLst/>
            <a:gdLst/>
            <a:ahLst/>
            <a:cxnLst/>
            <a:rect l="l" t="t" r="r" b="b"/>
            <a:pathLst>
              <a:path w="4472574" h="5039520">
                <a:moveTo>
                  <a:pt x="0" y="0"/>
                </a:moveTo>
                <a:lnTo>
                  <a:pt x="4472574" y="0"/>
                </a:lnTo>
                <a:lnTo>
                  <a:pt x="4472574" y="5039521"/>
                </a:lnTo>
                <a:lnTo>
                  <a:pt x="0" y="50395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627283" y="5229225"/>
            <a:ext cx="3962579" cy="2337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7"/>
              </a:lnSpc>
            </a:pPr>
            <a:r>
              <a:rPr lang="en-US" sz="4620">
                <a:solidFill>
                  <a:srgbClr val="FFFFFF"/>
                </a:solidFill>
                <a:latin typeface="Formula"/>
                <a:ea typeface="Formula"/>
                <a:cs typeface="Formula"/>
                <a:sym typeface="Formula"/>
              </a:rPr>
              <a:t>GESTIÓN DISTRIBUIDA DE INVENTARIOS MEDIANTE MICROSERVICIOS Y BFF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7283" y="1864650"/>
            <a:ext cx="9821838" cy="3504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6"/>
              </a:lnSpc>
            </a:pPr>
            <a:r>
              <a:rPr lang="en-US" sz="9190" b="1">
                <a:solidFill>
                  <a:srgbClr val="FFFFFF"/>
                </a:solidFill>
                <a:latin typeface="Formula Bold"/>
                <a:ea typeface="Formula Bold"/>
                <a:cs typeface="Formula Bold"/>
                <a:sym typeface="Formula Bold"/>
              </a:rPr>
              <a:t>SMARTLOGIX: GESTIÓN DISTRIBUIDA DE INVENTARIOS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7283" y="9182100"/>
            <a:ext cx="5527281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 spc="119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Diego Lazo - Antoane Anticoi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b="1" spc="119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Mayo 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503188" y="310365"/>
            <a:ext cx="4484201" cy="450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1"/>
              </a:lnSpc>
              <a:spcBef>
                <a:spcPct val="0"/>
              </a:spcBef>
            </a:pPr>
            <a:r>
              <a:rPr lang="en-US" sz="3155" spc="50">
                <a:solidFill>
                  <a:srgbClr val="FFFFFF"/>
                </a:solidFill>
                <a:latin typeface="Formula"/>
                <a:ea typeface="Formula"/>
                <a:cs typeface="Formula"/>
                <a:sym typeface="Formula"/>
              </a:rPr>
              <a:t>Evaluación Parcial 2 • FullStack III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-164477"/>
            <a:ext cx="1930167" cy="10615954"/>
          </a:xfrm>
          <a:custGeom>
            <a:avLst/>
            <a:gdLst/>
            <a:ahLst/>
            <a:cxnLst/>
            <a:rect l="l" t="t" r="r" b="b"/>
            <a:pathLst>
              <a:path w="1930167" h="10615954">
                <a:moveTo>
                  <a:pt x="0" y="10615954"/>
                </a:moveTo>
                <a:lnTo>
                  <a:pt x="1930167" y="10615954"/>
                </a:lnTo>
                <a:lnTo>
                  <a:pt x="1930167" y="0"/>
                </a:lnTo>
                <a:lnTo>
                  <a:pt x="0" y="0"/>
                </a:lnTo>
                <a:lnTo>
                  <a:pt x="0" y="10615954"/>
                </a:lnTo>
                <a:close/>
              </a:path>
            </a:pathLst>
          </a:custGeom>
          <a:blipFill>
            <a:blip r:embed="rId3"/>
            <a:stretch>
              <a:fillRect l="-243095" r="-573574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5971834" y="1085850"/>
            <a:ext cx="6344332" cy="930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spc="104">
                <a:solidFill>
                  <a:srgbClr val="F1F5FF"/>
                </a:solidFill>
                <a:latin typeface="Formula"/>
                <a:ea typeface="Formula"/>
                <a:cs typeface="Formula"/>
                <a:sym typeface="Formula"/>
              </a:rPr>
              <a:t>El Desafío del Monolito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12058" y="2771008"/>
            <a:ext cx="6663884" cy="4135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4657" lvl="1" indent="-317328" algn="l">
              <a:lnSpc>
                <a:spcPts val="4115"/>
              </a:lnSpc>
              <a:buFont typeface="Arial"/>
              <a:buChar char="•"/>
            </a:pPr>
            <a:r>
              <a:rPr lang="en-US" sz="2939" spc="58">
                <a:solidFill>
                  <a:srgbClr val="F1F5FF"/>
                </a:solidFill>
                <a:latin typeface="Telegraf"/>
                <a:ea typeface="Telegraf"/>
                <a:cs typeface="Telegraf"/>
                <a:sym typeface="Telegraf"/>
              </a:rPr>
              <a:t>Problema: Sistemas rígidos con bases de datos acopladas y fallos en cascada.</a:t>
            </a:r>
          </a:p>
          <a:p>
            <a:pPr marL="634657" lvl="1" indent="-317328" algn="l">
              <a:lnSpc>
                <a:spcPts val="4115"/>
              </a:lnSpc>
              <a:buFont typeface="Arial"/>
              <a:buChar char="•"/>
            </a:pPr>
            <a:r>
              <a:rPr lang="en-US" sz="2939" spc="58">
                <a:solidFill>
                  <a:srgbClr val="F1F5FF"/>
                </a:solidFill>
                <a:latin typeface="Telegraf"/>
                <a:ea typeface="Telegraf"/>
                <a:cs typeface="Telegraf"/>
                <a:sym typeface="Telegraf"/>
              </a:rPr>
              <a:t>Solución: Transición hacia una arquitectura modular y escalable.</a:t>
            </a:r>
          </a:p>
          <a:p>
            <a:pPr marL="634657" lvl="1" indent="-317328" algn="l">
              <a:lnSpc>
                <a:spcPts val="4115"/>
              </a:lnSpc>
              <a:buFont typeface="Arial"/>
              <a:buChar char="•"/>
            </a:pPr>
            <a:r>
              <a:rPr lang="en-US" sz="2939" spc="58">
                <a:solidFill>
                  <a:srgbClr val="F1F5FF"/>
                </a:solidFill>
                <a:latin typeface="Telegraf"/>
                <a:ea typeface="Telegraf"/>
                <a:cs typeface="Telegraf"/>
                <a:sym typeface="Telegraf"/>
              </a:rPr>
              <a:t>Enfoque: Independencia tecnológica y despliegue autónomo de servicios.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-164477"/>
            <a:ext cx="1930167" cy="10615954"/>
          </a:xfrm>
          <a:custGeom>
            <a:avLst/>
            <a:gdLst/>
            <a:ahLst/>
            <a:cxnLst/>
            <a:rect l="l" t="t" r="r" b="b"/>
            <a:pathLst>
              <a:path w="1930167" h="10615954">
                <a:moveTo>
                  <a:pt x="0" y="10615954"/>
                </a:moveTo>
                <a:lnTo>
                  <a:pt x="1930167" y="10615954"/>
                </a:lnTo>
                <a:lnTo>
                  <a:pt x="1930167" y="0"/>
                </a:lnTo>
                <a:lnTo>
                  <a:pt x="0" y="0"/>
                </a:lnTo>
                <a:lnTo>
                  <a:pt x="0" y="10615954"/>
                </a:lnTo>
                <a:close/>
              </a:path>
            </a:pathLst>
          </a:custGeom>
          <a:blipFill>
            <a:blip r:embed="rId3"/>
            <a:stretch>
              <a:fillRect l="-243095" r="-573574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9318214" y="3763379"/>
            <a:ext cx="8756645" cy="5823169"/>
          </a:xfrm>
          <a:custGeom>
            <a:avLst/>
            <a:gdLst/>
            <a:ahLst/>
            <a:cxnLst/>
            <a:rect l="l" t="t" r="r" b="b"/>
            <a:pathLst>
              <a:path w="8756645" h="5823169">
                <a:moveTo>
                  <a:pt x="0" y="0"/>
                </a:moveTo>
                <a:lnTo>
                  <a:pt x="8756645" y="0"/>
                </a:lnTo>
                <a:lnTo>
                  <a:pt x="8756645" y="5823169"/>
                </a:lnTo>
                <a:lnTo>
                  <a:pt x="0" y="58231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3812564" y="1085850"/>
            <a:ext cx="10662872" cy="930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spc="104">
                <a:solidFill>
                  <a:srgbClr val="FFFFFF"/>
                </a:solidFill>
                <a:latin typeface="Formula"/>
                <a:ea typeface="Formula"/>
                <a:cs typeface="Formula"/>
                <a:sym typeface="Formula"/>
              </a:rPr>
              <a:t>Arquitectura: Microservicios y BFF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92379" y="3281496"/>
            <a:ext cx="6663884" cy="464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4657" lvl="1" indent="-317328" algn="l">
              <a:lnSpc>
                <a:spcPts val="4115"/>
              </a:lnSpc>
              <a:buFont typeface="Arial"/>
              <a:buChar char="•"/>
            </a:pPr>
            <a:r>
              <a:rPr lang="en-US" sz="2939" spc="58">
                <a:solidFill>
                  <a:srgbClr val="F1F5FF"/>
                </a:solidFill>
                <a:latin typeface="Telegraf"/>
                <a:ea typeface="Telegraf"/>
                <a:cs typeface="Telegraf"/>
                <a:sym typeface="Telegraf"/>
              </a:rPr>
              <a:t>Patrón BFF: Actúa como interfaz única para el cliente (React), orquestando llamadas internas.</a:t>
            </a:r>
          </a:p>
          <a:p>
            <a:pPr marL="634657" lvl="1" indent="-317328" algn="l">
              <a:lnSpc>
                <a:spcPts val="4115"/>
              </a:lnSpc>
              <a:buFont typeface="Arial"/>
              <a:buChar char="•"/>
            </a:pPr>
            <a:r>
              <a:rPr lang="en-US" sz="2939" spc="58">
                <a:solidFill>
                  <a:srgbClr val="F1F5FF"/>
                </a:solidFill>
                <a:latin typeface="Telegraf"/>
                <a:ea typeface="Telegraf"/>
                <a:cs typeface="Telegraf"/>
                <a:sym typeface="Telegraf"/>
              </a:rPr>
              <a:t>Servicios Core: Auth (Seguridad), Inventory (Stock) y Orders (Ventas).</a:t>
            </a:r>
          </a:p>
          <a:p>
            <a:pPr marL="634657" lvl="1" indent="-317328" algn="l">
              <a:lnSpc>
                <a:spcPts val="4115"/>
              </a:lnSpc>
              <a:buFont typeface="Arial"/>
              <a:buChar char="•"/>
            </a:pPr>
            <a:r>
              <a:rPr lang="en-US" sz="2939" spc="58">
                <a:solidFill>
                  <a:srgbClr val="F1F5FF"/>
                </a:solidFill>
                <a:latin typeface="Telegraf"/>
                <a:ea typeface="Telegraf"/>
                <a:cs typeface="Telegraf"/>
                <a:sym typeface="Telegraf"/>
              </a:rPr>
              <a:t>Comunicación: Intercambio de datos vía API REST para mantener el desacoplamiento.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-164477"/>
            <a:ext cx="1930167" cy="10615954"/>
          </a:xfrm>
          <a:custGeom>
            <a:avLst/>
            <a:gdLst/>
            <a:ahLst/>
            <a:cxnLst/>
            <a:rect l="l" t="t" r="r" b="b"/>
            <a:pathLst>
              <a:path w="1930167" h="10615954">
                <a:moveTo>
                  <a:pt x="0" y="10615954"/>
                </a:moveTo>
                <a:lnTo>
                  <a:pt x="1930167" y="10615954"/>
                </a:lnTo>
                <a:lnTo>
                  <a:pt x="1930167" y="0"/>
                </a:lnTo>
                <a:lnTo>
                  <a:pt x="0" y="0"/>
                </a:lnTo>
                <a:lnTo>
                  <a:pt x="0" y="10615954"/>
                </a:lnTo>
                <a:close/>
              </a:path>
            </a:pathLst>
          </a:custGeom>
          <a:blipFill>
            <a:blip r:embed="rId3"/>
            <a:stretch>
              <a:fillRect l="-243095" r="-573574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3206902" y="3600450"/>
            <a:ext cx="4807786" cy="3079326"/>
            <a:chOff x="0" y="0"/>
            <a:chExt cx="1266248" cy="8110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6248" cy="811016"/>
            </a:xfrm>
            <a:custGeom>
              <a:avLst/>
              <a:gdLst/>
              <a:ahLst/>
              <a:cxnLst/>
              <a:rect l="l" t="t" r="r" b="b"/>
              <a:pathLst>
                <a:path w="1266248" h="811016">
                  <a:moveTo>
                    <a:pt x="82125" y="0"/>
                  </a:moveTo>
                  <a:lnTo>
                    <a:pt x="1184124" y="0"/>
                  </a:lnTo>
                  <a:cubicBezTo>
                    <a:pt x="1229480" y="0"/>
                    <a:pt x="1266248" y="36768"/>
                    <a:pt x="1266248" y="82125"/>
                  </a:cubicBezTo>
                  <a:lnTo>
                    <a:pt x="1266248" y="728891"/>
                  </a:lnTo>
                  <a:cubicBezTo>
                    <a:pt x="1266248" y="750672"/>
                    <a:pt x="1257596" y="771561"/>
                    <a:pt x="1242195" y="786962"/>
                  </a:cubicBezTo>
                  <a:cubicBezTo>
                    <a:pt x="1226793" y="802363"/>
                    <a:pt x="1205904" y="811016"/>
                    <a:pt x="1184124" y="811016"/>
                  </a:cubicBezTo>
                  <a:lnTo>
                    <a:pt x="82125" y="811016"/>
                  </a:lnTo>
                  <a:cubicBezTo>
                    <a:pt x="60344" y="811016"/>
                    <a:pt x="39455" y="802363"/>
                    <a:pt x="24054" y="786962"/>
                  </a:cubicBezTo>
                  <a:cubicBezTo>
                    <a:pt x="8652" y="771561"/>
                    <a:pt x="0" y="750672"/>
                    <a:pt x="0" y="728891"/>
                  </a:cubicBezTo>
                  <a:lnTo>
                    <a:pt x="0" y="82125"/>
                  </a:lnTo>
                  <a:cubicBezTo>
                    <a:pt x="0" y="60344"/>
                    <a:pt x="8652" y="39455"/>
                    <a:pt x="24054" y="24054"/>
                  </a:cubicBezTo>
                  <a:cubicBezTo>
                    <a:pt x="39455" y="8652"/>
                    <a:pt x="60344" y="0"/>
                    <a:pt x="82125" y="0"/>
                  </a:cubicBezTo>
                  <a:close/>
                </a:path>
              </a:pathLst>
            </a:custGeom>
            <a:solidFill>
              <a:srgbClr val="2E189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66248" cy="8491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055850" y="3041469"/>
            <a:ext cx="1109891" cy="1117961"/>
          </a:xfrm>
          <a:custGeom>
            <a:avLst/>
            <a:gdLst/>
            <a:ahLst/>
            <a:cxnLst/>
            <a:rect l="l" t="t" r="r" b="b"/>
            <a:pathLst>
              <a:path w="1109891" h="1117961">
                <a:moveTo>
                  <a:pt x="0" y="0"/>
                </a:moveTo>
                <a:lnTo>
                  <a:pt x="1109891" y="0"/>
                </a:lnTo>
                <a:lnTo>
                  <a:pt x="1109891" y="1117962"/>
                </a:lnTo>
                <a:lnTo>
                  <a:pt x="0" y="1117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1442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11428745" y="2894667"/>
            <a:ext cx="4807786" cy="3079326"/>
            <a:chOff x="0" y="0"/>
            <a:chExt cx="1266248" cy="8110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66248" cy="811016"/>
            </a:xfrm>
            <a:custGeom>
              <a:avLst/>
              <a:gdLst/>
              <a:ahLst/>
              <a:cxnLst/>
              <a:rect l="l" t="t" r="r" b="b"/>
              <a:pathLst>
                <a:path w="1266248" h="811016">
                  <a:moveTo>
                    <a:pt x="82125" y="0"/>
                  </a:moveTo>
                  <a:lnTo>
                    <a:pt x="1184124" y="0"/>
                  </a:lnTo>
                  <a:cubicBezTo>
                    <a:pt x="1229480" y="0"/>
                    <a:pt x="1266248" y="36768"/>
                    <a:pt x="1266248" y="82125"/>
                  </a:cubicBezTo>
                  <a:lnTo>
                    <a:pt x="1266248" y="728891"/>
                  </a:lnTo>
                  <a:cubicBezTo>
                    <a:pt x="1266248" y="750672"/>
                    <a:pt x="1257596" y="771561"/>
                    <a:pt x="1242195" y="786962"/>
                  </a:cubicBezTo>
                  <a:cubicBezTo>
                    <a:pt x="1226793" y="802363"/>
                    <a:pt x="1205904" y="811016"/>
                    <a:pt x="1184124" y="811016"/>
                  </a:cubicBezTo>
                  <a:lnTo>
                    <a:pt x="82125" y="811016"/>
                  </a:lnTo>
                  <a:cubicBezTo>
                    <a:pt x="60344" y="811016"/>
                    <a:pt x="39455" y="802363"/>
                    <a:pt x="24054" y="786962"/>
                  </a:cubicBezTo>
                  <a:cubicBezTo>
                    <a:pt x="8652" y="771561"/>
                    <a:pt x="0" y="750672"/>
                    <a:pt x="0" y="728891"/>
                  </a:cubicBezTo>
                  <a:lnTo>
                    <a:pt x="0" y="82125"/>
                  </a:lnTo>
                  <a:cubicBezTo>
                    <a:pt x="0" y="60344"/>
                    <a:pt x="8652" y="39455"/>
                    <a:pt x="24054" y="24054"/>
                  </a:cubicBezTo>
                  <a:cubicBezTo>
                    <a:pt x="39455" y="8652"/>
                    <a:pt x="60344" y="0"/>
                    <a:pt x="82125" y="0"/>
                  </a:cubicBezTo>
                  <a:close/>
                </a:path>
              </a:pathLst>
            </a:custGeom>
            <a:solidFill>
              <a:srgbClr val="2E189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266248" cy="8491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469907" y="6675848"/>
            <a:ext cx="4807786" cy="3079326"/>
            <a:chOff x="0" y="0"/>
            <a:chExt cx="1266248" cy="81101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66248" cy="811016"/>
            </a:xfrm>
            <a:custGeom>
              <a:avLst/>
              <a:gdLst/>
              <a:ahLst/>
              <a:cxnLst/>
              <a:rect l="l" t="t" r="r" b="b"/>
              <a:pathLst>
                <a:path w="1266248" h="811016">
                  <a:moveTo>
                    <a:pt x="82125" y="0"/>
                  </a:moveTo>
                  <a:lnTo>
                    <a:pt x="1184124" y="0"/>
                  </a:lnTo>
                  <a:cubicBezTo>
                    <a:pt x="1229480" y="0"/>
                    <a:pt x="1266248" y="36768"/>
                    <a:pt x="1266248" y="82125"/>
                  </a:cubicBezTo>
                  <a:lnTo>
                    <a:pt x="1266248" y="728891"/>
                  </a:lnTo>
                  <a:cubicBezTo>
                    <a:pt x="1266248" y="750672"/>
                    <a:pt x="1257596" y="771561"/>
                    <a:pt x="1242195" y="786962"/>
                  </a:cubicBezTo>
                  <a:cubicBezTo>
                    <a:pt x="1226793" y="802363"/>
                    <a:pt x="1205904" y="811016"/>
                    <a:pt x="1184124" y="811016"/>
                  </a:cubicBezTo>
                  <a:lnTo>
                    <a:pt x="82125" y="811016"/>
                  </a:lnTo>
                  <a:cubicBezTo>
                    <a:pt x="60344" y="811016"/>
                    <a:pt x="39455" y="802363"/>
                    <a:pt x="24054" y="786962"/>
                  </a:cubicBezTo>
                  <a:cubicBezTo>
                    <a:pt x="8652" y="771561"/>
                    <a:pt x="0" y="750672"/>
                    <a:pt x="0" y="728891"/>
                  </a:cubicBezTo>
                  <a:lnTo>
                    <a:pt x="0" y="82125"/>
                  </a:lnTo>
                  <a:cubicBezTo>
                    <a:pt x="0" y="60344"/>
                    <a:pt x="8652" y="39455"/>
                    <a:pt x="24054" y="24054"/>
                  </a:cubicBezTo>
                  <a:cubicBezTo>
                    <a:pt x="39455" y="8652"/>
                    <a:pt x="60344" y="0"/>
                    <a:pt x="82125" y="0"/>
                  </a:cubicBezTo>
                  <a:close/>
                </a:path>
              </a:pathLst>
            </a:custGeom>
            <a:solidFill>
              <a:srgbClr val="2E189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266248" cy="8491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3321978" y="2463442"/>
            <a:ext cx="1021321" cy="862449"/>
          </a:xfrm>
          <a:custGeom>
            <a:avLst/>
            <a:gdLst/>
            <a:ahLst/>
            <a:cxnLst/>
            <a:rect l="l" t="t" r="r" b="b"/>
            <a:pathLst>
              <a:path w="1021321" h="862449">
                <a:moveTo>
                  <a:pt x="0" y="0"/>
                </a:moveTo>
                <a:lnTo>
                  <a:pt x="1021321" y="0"/>
                </a:lnTo>
                <a:lnTo>
                  <a:pt x="1021321" y="862449"/>
                </a:lnTo>
                <a:lnTo>
                  <a:pt x="0" y="8624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10440217" y="6232011"/>
            <a:ext cx="867165" cy="895530"/>
          </a:xfrm>
          <a:custGeom>
            <a:avLst/>
            <a:gdLst/>
            <a:ahLst/>
            <a:cxnLst/>
            <a:rect l="l" t="t" r="r" b="b"/>
            <a:pathLst>
              <a:path w="867165" h="895530">
                <a:moveTo>
                  <a:pt x="0" y="0"/>
                </a:moveTo>
                <a:lnTo>
                  <a:pt x="867165" y="0"/>
                </a:lnTo>
                <a:lnTo>
                  <a:pt x="867165" y="895529"/>
                </a:lnTo>
                <a:lnTo>
                  <a:pt x="0" y="8955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839" t="-15088" r="-11839" b="-164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TextBox 15"/>
          <p:cNvSpPr txBox="1"/>
          <p:nvPr/>
        </p:nvSpPr>
        <p:spPr>
          <a:xfrm>
            <a:off x="3664454" y="1085850"/>
            <a:ext cx="10959093" cy="930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spc="104">
                <a:solidFill>
                  <a:srgbClr val="FFFFFF"/>
                </a:solidFill>
                <a:latin typeface="Formula"/>
                <a:ea typeface="Formula"/>
                <a:cs typeface="Formula"/>
                <a:sym typeface="Formula"/>
              </a:rPr>
              <a:t>Patrones y Arquetipos Seleccionados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34773" y="4183414"/>
            <a:ext cx="4552045" cy="459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0"/>
              </a:lnSpc>
              <a:spcBef>
                <a:spcPct val="0"/>
              </a:spcBef>
            </a:pPr>
            <a:r>
              <a:rPr lang="en-US" sz="3219" b="1" spc="5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Maven Multi-module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92149" y="4818349"/>
            <a:ext cx="4637292" cy="1666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spcBef>
                <a:spcPct val="0"/>
              </a:spcBef>
            </a:pPr>
            <a:r>
              <a:rPr lang="en-US" sz="2973" spc="4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Estandarización de dependencias y versiones en todo el ecosistema Java.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556616" y="3477631"/>
            <a:ext cx="4552045" cy="459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0"/>
              </a:lnSpc>
              <a:spcBef>
                <a:spcPct val="0"/>
              </a:spcBef>
            </a:pPr>
            <a:r>
              <a:rPr lang="en-US" sz="3219" b="1" spc="5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Patrón DTO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513992" y="4112566"/>
            <a:ext cx="4637292" cy="1666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spcBef>
                <a:spcPct val="0"/>
              </a:spcBef>
            </a:pPr>
            <a:r>
              <a:rPr lang="en-US" sz="2973" spc="4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Protección de entidades de negocio y optimización del tráfico JSON.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97777" y="7258812"/>
            <a:ext cx="4552045" cy="459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0"/>
              </a:lnSpc>
              <a:spcBef>
                <a:spcPct val="0"/>
              </a:spcBef>
            </a:pPr>
            <a:r>
              <a:rPr lang="en-US" sz="3219" b="1" spc="5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Patrón Singleton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55154" y="7893747"/>
            <a:ext cx="4637292" cy="125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spcBef>
                <a:spcPct val="0"/>
              </a:spcBef>
            </a:pPr>
            <a:r>
              <a:rPr lang="en-US" sz="2973" spc="4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Gestión eficiente de memoria y servicios únicos dentro de Spring.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-164477"/>
            <a:ext cx="1930167" cy="10615954"/>
          </a:xfrm>
          <a:custGeom>
            <a:avLst/>
            <a:gdLst/>
            <a:ahLst/>
            <a:cxnLst/>
            <a:rect l="l" t="t" r="r" b="b"/>
            <a:pathLst>
              <a:path w="1930167" h="10615954">
                <a:moveTo>
                  <a:pt x="0" y="10615954"/>
                </a:moveTo>
                <a:lnTo>
                  <a:pt x="1930167" y="10615954"/>
                </a:lnTo>
                <a:lnTo>
                  <a:pt x="1930167" y="0"/>
                </a:lnTo>
                <a:lnTo>
                  <a:pt x="0" y="0"/>
                </a:lnTo>
                <a:lnTo>
                  <a:pt x="0" y="10615954"/>
                </a:lnTo>
                <a:close/>
              </a:path>
            </a:pathLst>
          </a:custGeom>
          <a:blipFill>
            <a:blip r:embed="rId3"/>
            <a:stretch>
              <a:fillRect l="-243095" r="-573574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9307167" y="309566"/>
            <a:ext cx="7952133" cy="9667869"/>
          </a:xfrm>
          <a:custGeom>
            <a:avLst/>
            <a:gdLst/>
            <a:ahLst/>
            <a:cxnLst/>
            <a:rect l="l" t="t" r="r" b="b"/>
            <a:pathLst>
              <a:path w="7952133" h="9667869">
                <a:moveTo>
                  <a:pt x="0" y="0"/>
                </a:moveTo>
                <a:lnTo>
                  <a:pt x="7952133" y="0"/>
                </a:lnTo>
                <a:lnTo>
                  <a:pt x="7952133" y="9667868"/>
                </a:lnTo>
                <a:lnTo>
                  <a:pt x="0" y="9667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247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2854697" y="1085850"/>
            <a:ext cx="5473766" cy="2740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spc="104">
                <a:solidFill>
                  <a:srgbClr val="FFFFFF"/>
                </a:solidFill>
                <a:latin typeface="Formula"/>
                <a:ea typeface="Formula"/>
                <a:cs typeface="Formula"/>
                <a:sym typeface="Formula"/>
              </a:rPr>
              <a:t>Vista Lógica: Diagrama de Clases UML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54697" y="4066123"/>
            <a:ext cx="5289415" cy="2592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5"/>
              </a:lnSpc>
            </a:pPr>
            <a:r>
              <a:rPr lang="en-US" sz="2939" spc="58">
                <a:solidFill>
                  <a:srgbClr val="F1F5FF"/>
                </a:solidFill>
                <a:latin typeface="Telegraf"/>
                <a:ea typeface="Telegraf"/>
                <a:cs typeface="Telegraf"/>
                <a:sym typeface="Telegraf"/>
              </a:rPr>
              <a:t>Modelo de datos distribuido. Relaciones lógicas mediante identificadores (ID) para evitar dependencias físicas entre esquemas.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854697" y="7468412"/>
            <a:ext cx="5072236" cy="1595338"/>
            <a:chOff x="0" y="0"/>
            <a:chExt cx="6762981" cy="21271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26652" cy="783114"/>
            </a:xfrm>
            <a:custGeom>
              <a:avLst/>
              <a:gdLst/>
              <a:ahLst/>
              <a:cxnLst/>
              <a:rect l="l" t="t" r="r" b="b"/>
              <a:pathLst>
                <a:path w="826652" h="783114">
                  <a:moveTo>
                    <a:pt x="0" y="0"/>
                  </a:moveTo>
                  <a:lnTo>
                    <a:pt x="826652" y="0"/>
                  </a:lnTo>
                  <a:lnTo>
                    <a:pt x="826652" y="783114"/>
                  </a:lnTo>
                  <a:lnTo>
                    <a:pt x="0" y="783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4167" t="-29543" r="-22399" b="-202574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8509" y="147512"/>
              <a:ext cx="5934472" cy="5071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57"/>
                </a:lnSpc>
                <a:spcBef>
                  <a:spcPct val="0"/>
                </a:spcBef>
              </a:pPr>
              <a:r>
                <a:rPr lang="en-US" sz="2597" spc="41" dirty="0" err="1">
                  <a:solidFill>
                    <a:srgbClr val="FFFFFF"/>
                  </a:solidFill>
                  <a:latin typeface="Formula"/>
                  <a:ea typeface="Formula"/>
                  <a:cs typeface="Formula"/>
                  <a:sym typeface="Formula"/>
                </a:rPr>
                <a:t>Relaciones</a:t>
              </a:r>
              <a:r>
                <a:rPr lang="en-US" sz="2597" spc="41" dirty="0">
                  <a:solidFill>
                    <a:srgbClr val="FFFFFF"/>
                  </a:solidFill>
                  <a:latin typeface="Formula"/>
                  <a:ea typeface="Formula"/>
                  <a:cs typeface="Formula"/>
                  <a:sym typeface="Formula"/>
                </a:rPr>
                <a:t> </a:t>
              </a:r>
              <a:r>
                <a:rPr lang="en-US" sz="2597" spc="41" dirty="0" err="1">
                  <a:solidFill>
                    <a:srgbClr val="FFFFFF"/>
                  </a:solidFill>
                  <a:latin typeface="Formula"/>
                  <a:ea typeface="Formula"/>
                  <a:cs typeface="Formula"/>
                  <a:sym typeface="Formula"/>
                </a:rPr>
                <a:t>lógicas</a:t>
              </a:r>
              <a:r>
                <a:rPr lang="en-US" sz="2597" spc="41" dirty="0">
                  <a:solidFill>
                    <a:srgbClr val="FFFFFF"/>
                  </a:solidFill>
                  <a:latin typeface="Formula"/>
                  <a:ea typeface="Formula"/>
                  <a:cs typeface="Formula"/>
                  <a:sym typeface="Formula"/>
                </a:rPr>
                <a:t> </a:t>
              </a:r>
              <a:r>
                <a:rPr lang="en-US" sz="2597" spc="41" dirty="0" err="1">
                  <a:solidFill>
                    <a:srgbClr val="FFFFFF"/>
                  </a:solidFill>
                  <a:latin typeface="Formula"/>
                  <a:ea typeface="Formula"/>
                  <a:cs typeface="Formula"/>
                  <a:sym typeface="Formula"/>
                </a:rPr>
                <a:t>mediante</a:t>
              </a:r>
              <a:r>
                <a:rPr lang="en-US" sz="2597" spc="41" dirty="0">
                  <a:solidFill>
                    <a:srgbClr val="FFFFFF"/>
                  </a:solidFill>
                  <a:latin typeface="Formula"/>
                  <a:ea typeface="Formula"/>
                  <a:cs typeface="Formula"/>
                  <a:sym typeface="Formula"/>
                </a:rPr>
                <a:t> IDs (Long).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8509" y="1504369"/>
              <a:ext cx="5375368" cy="5071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57"/>
                </a:lnSpc>
                <a:spcBef>
                  <a:spcPct val="0"/>
                </a:spcBef>
              </a:pPr>
              <a:r>
                <a:rPr lang="en-US" sz="2597" spc="41">
                  <a:solidFill>
                    <a:srgbClr val="FFFFFF"/>
                  </a:solidFill>
                  <a:latin typeface="Formula"/>
                  <a:ea typeface="Formula"/>
                  <a:cs typeface="Formula"/>
                  <a:sym typeface="Formula"/>
                </a:rPr>
                <a:t>Aislamiento total de esquemas SQL.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13823" y="1369710"/>
              <a:ext cx="599006" cy="757408"/>
            </a:xfrm>
            <a:custGeom>
              <a:avLst/>
              <a:gdLst/>
              <a:ahLst/>
              <a:cxnLst/>
              <a:rect l="l" t="t" r="r" b="b"/>
              <a:pathLst>
                <a:path w="599006" h="757408">
                  <a:moveTo>
                    <a:pt x="0" y="0"/>
                  </a:moveTo>
                  <a:lnTo>
                    <a:pt x="599006" y="0"/>
                  </a:lnTo>
                  <a:lnTo>
                    <a:pt x="599006" y="757408"/>
                  </a:lnTo>
                  <a:lnTo>
                    <a:pt x="0" y="757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0952" t="-208732" r="-68916" b="-34657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-164477"/>
            <a:ext cx="1930167" cy="10615954"/>
          </a:xfrm>
          <a:custGeom>
            <a:avLst/>
            <a:gdLst/>
            <a:ahLst/>
            <a:cxnLst/>
            <a:rect l="l" t="t" r="r" b="b"/>
            <a:pathLst>
              <a:path w="1930167" h="10615954">
                <a:moveTo>
                  <a:pt x="0" y="10615954"/>
                </a:moveTo>
                <a:lnTo>
                  <a:pt x="1930167" y="10615954"/>
                </a:lnTo>
                <a:lnTo>
                  <a:pt x="1930167" y="0"/>
                </a:lnTo>
                <a:lnTo>
                  <a:pt x="0" y="0"/>
                </a:lnTo>
                <a:lnTo>
                  <a:pt x="0" y="10615954"/>
                </a:lnTo>
                <a:close/>
              </a:path>
            </a:pathLst>
          </a:custGeom>
          <a:blipFill>
            <a:blip r:embed="rId3"/>
            <a:stretch>
              <a:fillRect l="-243095" r="-573574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1491217" y="7131488"/>
            <a:ext cx="6796783" cy="3155512"/>
          </a:xfrm>
          <a:custGeom>
            <a:avLst/>
            <a:gdLst/>
            <a:ahLst/>
            <a:cxnLst/>
            <a:rect l="l" t="t" r="r" b="b"/>
            <a:pathLst>
              <a:path w="6796783" h="3155512">
                <a:moveTo>
                  <a:pt x="0" y="0"/>
                </a:moveTo>
                <a:lnTo>
                  <a:pt x="6796783" y="0"/>
                </a:lnTo>
                <a:lnTo>
                  <a:pt x="6796783" y="3155512"/>
                </a:lnTo>
                <a:lnTo>
                  <a:pt x="0" y="31555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875" t="-36439" r="-11479" b="-24726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3664454" y="1085850"/>
            <a:ext cx="10959093" cy="930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spc="104">
                <a:solidFill>
                  <a:srgbClr val="FFFFFF"/>
                </a:solidFill>
                <a:latin typeface="Formula"/>
                <a:ea typeface="Formula"/>
                <a:cs typeface="Formula"/>
                <a:sym typeface="Formula"/>
              </a:rPr>
              <a:t>Estrategia: Database per Service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12058" y="3028183"/>
            <a:ext cx="6663884" cy="4135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4657" lvl="1" indent="-317328" algn="l">
              <a:lnSpc>
                <a:spcPts val="4115"/>
              </a:lnSpc>
              <a:buFont typeface="Arial"/>
              <a:buChar char="•"/>
            </a:pPr>
            <a:r>
              <a:rPr lang="en-US" sz="2939" spc="58">
                <a:solidFill>
                  <a:srgbClr val="F1F5FF"/>
                </a:solidFill>
                <a:latin typeface="Telegraf"/>
                <a:ea typeface="Telegraf"/>
                <a:cs typeface="Telegraf"/>
                <a:sym typeface="Telegraf"/>
              </a:rPr>
              <a:t>Infraestructura: Uso de Laragon para gestionar múltiples esquemas MySQL.</a:t>
            </a:r>
          </a:p>
          <a:p>
            <a:pPr marL="634657" lvl="1" indent="-317328" algn="l">
              <a:lnSpc>
                <a:spcPts val="4115"/>
              </a:lnSpc>
              <a:buFont typeface="Arial"/>
              <a:buChar char="•"/>
            </a:pPr>
            <a:r>
              <a:rPr lang="en-US" sz="2939" spc="58">
                <a:solidFill>
                  <a:srgbClr val="F1F5FF"/>
                </a:solidFill>
                <a:latin typeface="Telegraf"/>
                <a:ea typeface="Telegraf"/>
                <a:cs typeface="Telegraf"/>
                <a:sym typeface="Telegraf"/>
              </a:rPr>
              <a:t>Aislamiento: authdb, inventorydb y ordersdb son independientes.</a:t>
            </a:r>
          </a:p>
          <a:p>
            <a:pPr marL="634657" lvl="1" indent="-317328" algn="l">
              <a:lnSpc>
                <a:spcPts val="4115"/>
              </a:lnSpc>
              <a:buFont typeface="Arial"/>
              <a:buChar char="•"/>
            </a:pPr>
            <a:r>
              <a:rPr lang="en-US" sz="2939" spc="58">
                <a:solidFill>
                  <a:srgbClr val="F1F5FF"/>
                </a:solidFill>
                <a:latin typeface="Telegraf"/>
                <a:ea typeface="Telegraf"/>
                <a:cs typeface="Telegraf"/>
                <a:sym typeface="Telegraf"/>
              </a:rPr>
              <a:t>Ventaja: Si un esquema falla o se actualiza, el resto del sistema permanece operativo.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-164477"/>
            <a:ext cx="1930167" cy="10615954"/>
          </a:xfrm>
          <a:custGeom>
            <a:avLst/>
            <a:gdLst/>
            <a:ahLst/>
            <a:cxnLst/>
            <a:rect l="l" t="t" r="r" b="b"/>
            <a:pathLst>
              <a:path w="1930167" h="10615954">
                <a:moveTo>
                  <a:pt x="0" y="10615954"/>
                </a:moveTo>
                <a:lnTo>
                  <a:pt x="1930167" y="10615954"/>
                </a:lnTo>
                <a:lnTo>
                  <a:pt x="1930167" y="0"/>
                </a:lnTo>
                <a:lnTo>
                  <a:pt x="0" y="0"/>
                </a:lnTo>
                <a:lnTo>
                  <a:pt x="0" y="10615954"/>
                </a:lnTo>
                <a:close/>
              </a:path>
            </a:pathLst>
          </a:custGeom>
          <a:blipFill>
            <a:blip r:embed="rId3"/>
            <a:stretch>
              <a:fillRect l="-243095" r="-573574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3493371" y="7651339"/>
            <a:ext cx="11301259" cy="2401518"/>
          </a:xfrm>
          <a:custGeom>
            <a:avLst/>
            <a:gdLst/>
            <a:ahLst/>
            <a:cxnLst/>
            <a:rect l="l" t="t" r="r" b="b"/>
            <a:pathLst>
              <a:path w="11301259" h="2401518">
                <a:moveTo>
                  <a:pt x="0" y="0"/>
                </a:moveTo>
                <a:lnTo>
                  <a:pt x="11301258" y="0"/>
                </a:lnTo>
                <a:lnTo>
                  <a:pt x="11301258" y="2401518"/>
                </a:lnTo>
                <a:lnTo>
                  <a:pt x="0" y="24015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3664454" y="1085850"/>
            <a:ext cx="10959093" cy="930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spc="104">
                <a:solidFill>
                  <a:srgbClr val="FFFFFF"/>
                </a:solidFill>
                <a:latin typeface="Formula"/>
                <a:ea typeface="Formula"/>
                <a:cs typeface="Formula"/>
                <a:sym typeface="Formula"/>
              </a:rPr>
              <a:t>Plan de Branching: Ciclo GitFlow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12058" y="2771008"/>
            <a:ext cx="6663884" cy="464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4657" lvl="1" indent="-317328" algn="l">
              <a:lnSpc>
                <a:spcPts val="4115"/>
              </a:lnSpc>
              <a:buFont typeface="Arial"/>
              <a:buChar char="•"/>
            </a:pPr>
            <a:r>
              <a:rPr lang="en-US" sz="2939" spc="58">
                <a:solidFill>
                  <a:srgbClr val="F1F5FF"/>
                </a:solidFill>
                <a:latin typeface="Telegraf"/>
                <a:ea typeface="Telegraf"/>
                <a:cs typeface="Telegraf"/>
                <a:sym typeface="Telegraf"/>
              </a:rPr>
              <a:t>Ramas Críticas:</a:t>
            </a:r>
          </a:p>
          <a:p>
            <a:pPr marL="1269314" lvl="2" indent="-423105" algn="l">
              <a:lnSpc>
                <a:spcPts val="4115"/>
              </a:lnSpc>
              <a:buFont typeface="Arial"/>
              <a:buChar char="⚬"/>
            </a:pPr>
            <a:r>
              <a:rPr lang="en-US" sz="2939" spc="58">
                <a:solidFill>
                  <a:srgbClr val="F1F5FF"/>
                </a:solidFill>
                <a:latin typeface="Telegraf"/>
                <a:ea typeface="Telegraf"/>
                <a:cs typeface="Telegraf"/>
                <a:sym typeface="Telegraf"/>
              </a:rPr>
              <a:t>main: Código estable listo para producción.</a:t>
            </a:r>
          </a:p>
          <a:p>
            <a:pPr marL="1269314" lvl="2" indent="-423105" algn="l">
              <a:lnSpc>
                <a:spcPts val="4115"/>
              </a:lnSpc>
              <a:buFont typeface="Arial"/>
              <a:buChar char="⚬"/>
            </a:pPr>
            <a:r>
              <a:rPr lang="en-US" sz="2939" spc="58">
                <a:solidFill>
                  <a:srgbClr val="F1F5FF"/>
                </a:solidFill>
                <a:latin typeface="Telegraf"/>
                <a:ea typeface="Telegraf"/>
                <a:cs typeface="Telegraf"/>
                <a:sym typeface="Telegraf"/>
              </a:rPr>
              <a:t>develop: Integración técnica de módulos.</a:t>
            </a:r>
          </a:p>
          <a:p>
            <a:pPr marL="1269314" lvl="2" indent="-423105" algn="l">
              <a:lnSpc>
                <a:spcPts val="4115"/>
              </a:lnSpc>
              <a:buFont typeface="Arial"/>
              <a:buChar char="⚬"/>
            </a:pPr>
            <a:r>
              <a:rPr lang="en-US" sz="2939" spc="58">
                <a:solidFill>
                  <a:srgbClr val="F1F5FF"/>
                </a:solidFill>
                <a:latin typeface="Telegraf"/>
                <a:ea typeface="Telegraf"/>
                <a:cs typeface="Telegraf"/>
                <a:sym typeface="Telegraf"/>
              </a:rPr>
              <a:t>feature/: Desarrollo aislado de nuevas funcionalidades.</a:t>
            </a:r>
          </a:p>
          <a:p>
            <a:pPr marL="634657" lvl="1" indent="-317328" algn="l">
              <a:lnSpc>
                <a:spcPts val="4115"/>
              </a:lnSpc>
              <a:buFont typeface="Arial"/>
              <a:buChar char="•"/>
            </a:pPr>
            <a:r>
              <a:rPr lang="en-US" sz="2939" spc="58">
                <a:solidFill>
                  <a:srgbClr val="F1F5FF"/>
                </a:solidFill>
                <a:latin typeface="Telegraf"/>
                <a:ea typeface="Telegraf"/>
                <a:cs typeface="Telegraf"/>
                <a:sym typeface="Telegraf"/>
              </a:rPr>
              <a:t>Hito: Registro histórico mediante Pull Requests en GitHub.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-164477"/>
            <a:ext cx="1930167" cy="10615954"/>
          </a:xfrm>
          <a:custGeom>
            <a:avLst/>
            <a:gdLst/>
            <a:ahLst/>
            <a:cxnLst/>
            <a:rect l="l" t="t" r="r" b="b"/>
            <a:pathLst>
              <a:path w="1930167" h="10615954">
                <a:moveTo>
                  <a:pt x="0" y="10615954"/>
                </a:moveTo>
                <a:lnTo>
                  <a:pt x="1930167" y="10615954"/>
                </a:lnTo>
                <a:lnTo>
                  <a:pt x="1930167" y="0"/>
                </a:lnTo>
                <a:lnTo>
                  <a:pt x="0" y="0"/>
                </a:lnTo>
                <a:lnTo>
                  <a:pt x="0" y="10615954"/>
                </a:lnTo>
                <a:close/>
              </a:path>
            </a:pathLst>
          </a:custGeom>
          <a:blipFill>
            <a:blip r:embed="rId3"/>
            <a:stretch>
              <a:fillRect l="-243095" r="-573574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3664454" y="1085850"/>
            <a:ext cx="10959093" cy="930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spc="104">
                <a:solidFill>
                  <a:srgbClr val="FFFFFF"/>
                </a:solidFill>
                <a:latin typeface="Formula"/>
                <a:ea typeface="Formula"/>
                <a:cs typeface="Formula"/>
                <a:sym typeface="Formula"/>
              </a:rPr>
              <a:t>Requisitos Funcionales y de Sistema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330187" y="3123433"/>
            <a:ext cx="7627625" cy="4040134"/>
            <a:chOff x="0" y="0"/>
            <a:chExt cx="10170167" cy="5386846"/>
          </a:xfrm>
        </p:grpSpPr>
        <p:sp>
          <p:nvSpPr>
            <p:cNvPr id="5" name="Freeform 5"/>
            <p:cNvSpPr/>
            <p:nvPr/>
          </p:nvSpPr>
          <p:spPr>
            <a:xfrm>
              <a:off x="151986" y="134997"/>
              <a:ext cx="943020" cy="933344"/>
            </a:xfrm>
            <a:custGeom>
              <a:avLst/>
              <a:gdLst/>
              <a:ahLst/>
              <a:cxnLst/>
              <a:rect l="l" t="t" r="r" b="b"/>
              <a:pathLst>
                <a:path w="943020" h="933344">
                  <a:moveTo>
                    <a:pt x="0" y="0"/>
                  </a:moveTo>
                  <a:lnTo>
                    <a:pt x="943020" y="0"/>
                  </a:lnTo>
                  <a:lnTo>
                    <a:pt x="943020" y="933344"/>
                  </a:lnTo>
                  <a:lnTo>
                    <a:pt x="0" y="933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9547" t="-25782" r="-20146" b="-570742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284988" y="-95250"/>
              <a:ext cx="8885179" cy="54820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15"/>
                </a:lnSpc>
              </a:pPr>
              <a:r>
                <a:rPr lang="en-US" sz="2939" spc="58">
                  <a:solidFill>
                    <a:srgbClr val="F1F5FF"/>
                  </a:solidFill>
                  <a:latin typeface="Telegraf"/>
                  <a:ea typeface="Telegraf"/>
                  <a:cs typeface="Telegraf"/>
                  <a:sym typeface="Telegraf"/>
                </a:rPr>
                <a:t>RF1: Autenticación y Autorización basada en Roles (RBAC).</a:t>
              </a:r>
            </a:p>
            <a:p>
              <a:pPr algn="l">
                <a:lnSpc>
                  <a:spcPts val="4115"/>
                </a:lnSpc>
              </a:pPr>
              <a:endParaRPr lang="en-US" sz="2939" spc="58">
                <a:solidFill>
                  <a:srgbClr val="F1F5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algn="l">
                <a:lnSpc>
                  <a:spcPts val="4115"/>
                </a:lnSpc>
              </a:pPr>
              <a:r>
                <a:rPr lang="en-US" sz="2939" spc="58">
                  <a:solidFill>
                    <a:srgbClr val="F1F5FF"/>
                  </a:solidFill>
                  <a:latin typeface="Telegraf"/>
                  <a:ea typeface="Telegraf"/>
                  <a:cs typeface="Telegraf"/>
                  <a:sym typeface="Telegraf"/>
                </a:rPr>
                <a:t>RF2: Gestión de Stock con actualización en tiempo real.</a:t>
              </a:r>
            </a:p>
            <a:p>
              <a:pPr algn="l">
                <a:lnSpc>
                  <a:spcPts val="4115"/>
                </a:lnSpc>
              </a:pPr>
              <a:endParaRPr lang="en-US" sz="2939" spc="58">
                <a:solidFill>
                  <a:srgbClr val="F1F5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algn="l">
                <a:lnSpc>
                  <a:spcPts val="4115"/>
                </a:lnSpc>
              </a:pPr>
              <a:r>
                <a:rPr lang="en-US" sz="2939" spc="58">
                  <a:solidFill>
                    <a:srgbClr val="F1F5FF"/>
                  </a:solidFill>
                  <a:latin typeface="Telegraf"/>
                  <a:ea typeface="Telegraf"/>
                  <a:cs typeface="Telegraf"/>
                  <a:sym typeface="Telegraf"/>
                </a:rPr>
                <a:t>Disponibilidad: Sistema diseñado para alta tolerancia a fallos.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2121679"/>
              <a:ext cx="1246991" cy="1143488"/>
            </a:xfrm>
            <a:custGeom>
              <a:avLst/>
              <a:gdLst/>
              <a:ahLst/>
              <a:cxnLst/>
              <a:rect l="l" t="t" r="r" b="b"/>
              <a:pathLst>
                <a:path w="1246991" h="1143488">
                  <a:moveTo>
                    <a:pt x="0" y="0"/>
                  </a:moveTo>
                  <a:lnTo>
                    <a:pt x="1246991" y="0"/>
                  </a:lnTo>
                  <a:lnTo>
                    <a:pt x="1246991" y="1143488"/>
                  </a:lnTo>
                  <a:lnTo>
                    <a:pt x="0" y="1143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203" t="-235922" b="-232599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Freeform 8"/>
            <p:cNvSpPr/>
            <p:nvPr/>
          </p:nvSpPr>
          <p:spPr>
            <a:xfrm>
              <a:off x="94991" y="4217667"/>
              <a:ext cx="1057009" cy="1082272"/>
            </a:xfrm>
            <a:custGeom>
              <a:avLst/>
              <a:gdLst/>
              <a:ahLst/>
              <a:cxnLst/>
              <a:rect l="l" t="t" r="r" b="b"/>
              <a:pathLst>
                <a:path w="1057009" h="1082272">
                  <a:moveTo>
                    <a:pt x="0" y="0"/>
                  </a:moveTo>
                  <a:lnTo>
                    <a:pt x="1057009" y="0"/>
                  </a:lnTo>
                  <a:lnTo>
                    <a:pt x="1057009" y="1082272"/>
                  </a:lnTo>
                  <a:lnTo>
                    <a:pt x="0" y="1082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577" t="-487806" r="-17973" b="-128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67754" y="1085850"/>
            <a:ext cx="5952492" cy="930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spc="104">
                <a:solidFill>
                  <a:srgbClr val="FFFFFF"/>
                </a:solidFill>
                <a:latin typeface="Formula"/>
                <a:ea typeface="Formula"/>
                <a:cs typeface="Formula"/>
                <a:sym typeface="Formula"/>
              </a:rPr>
              <a:t>Historias de Usuario 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0" y="-164477"/>
            <a:ext cx="1930167" cy="10615954"/>
          </a:xfrm>
          <a:custGeom>
            <a:avLst/>
            <a:gdLst/>
            <a:ahLst/>
            <a:cxnLst/>
            <a:rect l="l" t="t" r="r" b="b"/>
            <a:pathLst>
              <a:path w="1930167" h="10615954">
                <a:moveTo>
                  <a:pt x="0" y="10615954"/>
                </a:moveTo>
                <a:lnTo>
                  <a:pt x="1930167" y="10615954"/>
                </a:lnTo>
                <a:lnTo>
                  <a:pt x="1930167" y="0"/>
                </a:lnTo>
                <a:lnTo>
                  <a:pt x="0" y="0"/>
                </a:lnTo>
                <a:lnTo>
                  <a:pt x="0" y="10615954"/>
                </a:lnTo>
                <a:close/>
              </a:path>
            </a:pathLst>
          </a:custGeom>
          <a:blipFill>
            <a:blip r:embed="rId3"/>
            <a:stretch>
              <a:fillRect l="-243095" r="-573574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4100369" y="3833395"/>
            <a:ext cx="4807786" cy="3079326"/>
            <a:chOff x="0" y="0"/>
            <a:chExt cx="6410382" cy="4105767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6410382" cy="4105767"/>
              <a:chOff x="0" y="0"/>
              <a:chExt cx="1266248" cy="81101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266248" cy="811016"/>
              </a:xfrm>
              <a:custGeom>
                <a:avLst/>
                <a:gdLst/>
                <a:ahLst/>
                <a:cxnLst/>
                <a:rect l="l" t="t" r="r" b="b"/>
                <a:pathLst>
                  <a:path w="1266248" h="811016">
                    <a:moveTo>
                      <a:pt x="82125" y="0"/>
                    </a:moveTo>
                    <a:lnTo>
                      <a:pt x="1184124" y="0"/>
                    </a:lnTo>
                    <a:cubicBezTo>
                      <a:pt x="1229480" y="0"/>
                      <a:pt x="1266248" y="36768"/>
                      <a:pt x="1266248" y="82125"/>
                    </a:cubicBezTo>
                    <a:lnTo>
                      <a:pt x="1266248" y="728891"/>
                    </a:lnTo>
                    <a:cubicBezTo>
                      <a:pt x="1266248" y="750672"/>
                      <a:pt x="1257596" y="771561"/>
                      <a:pt x="1242195" y="786962"/>
                    </a:cubicBezTo>
                    <a:cubicBezTo>
                      <a:pt x="1226793" y="802363"/>
                      <a:pt x="1205904" y="811016"/>
                      <a:pt x="1184124" y="811016"/>
                    </a:cubicBezTo>
                    <a:lnTo>
                      <a:pt x="82125" y="811016"/>
                    </a:lnTo>
                    <a:cubicBezTo>
                      <a:pt x="60344" y="811016"/>
                      <a:pt x="39455" y="802363"/>
                      <a:pt x="24054" y="786962"/>
                    </a:cubicBezTo>
                    <a:cubicBezTo>
                      <a:pt x="8652" y="771561"/>
                      <a:pt x="0" y="750672"/>
                      <a:pt x="0" y="728891"/>
                    </a:cubicBezTo>
                    <a:lnTo>
                      <a:pt x="0" y="82125"/>
                    </a:lnTo>
                    <a:cubicBezTo>
                      <a:pt x="0" y="60344"/>
                      <a:pt x="8652" y="39455"/>
                      <a:pt x="24054" y="24054"/>
                    </a:cubicBezTo>
                    <a:cubicBezTo>
                      <a:pt x="39455" y="8652"/>
                      <a:pt x="60344" y="0"/>
                      <a:pt x="82125" y="0"/>
                    </a:cubicBezTo>
                    <a:close/>
                  </a:path>
                </a:pathLst>
              </a:custGeom>
              <a:solidFill>
                <a:srgbClr val="2E1891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1266248" cy="8491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70495" y="536641"/>
              <a:ext cx="6069393" cy="6220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40"/>
                </a:lnSpc>
                <a:spcBef>
                  <a:spcPct val="0"/>
                </a:spcBef>
              </a:pPr>
              <a:r>
                <a:rPr lang="en-US" sz="3219" b="1" spc="5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El Administrador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187685" y="5040177"/>
            <a:ext cx="4633154" cy="1642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  <a:spcBef>
                <a:spcPct val="0"/>
              </a:spcBef>
            </a:pPr>
            <a:r>
              <a:rPr lang="en-US" sz="2355" spc="3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Capacidad de gestionar el catálogo global y niveles críticos de stock para evitar quiebres y optimizar la cadena de suministro.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907306" y="3603837"/>
            <a:ext cx="4807786" cy="3079326"/>
            <a:chOff x="0" y="0"/>
            <a:chExt cx="1266248" cy="81101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66248" cy="811016"/>
            </a:xfrm>
            <a:custGeom>
              <a:avLst/>
              <a:gdLst/>
              <a:ahLst/>
              <a:cxnLst/>
              <a:rect l="l" t="t" r="r" b="b"/>
              <a:pathLst>
                <a:path w="1266248" h="811016">
                  <a:moveTo>
                    <a:pt x="82125" y="0"/>
                  </a:moveTo>
                  <a:lnTo>
                    <a:pt x="1184124" y="0"/>
                  </a:lnTo>
                  <a:cubicBezTo>
                    <a:pt x="1229480" y="0"/>
                    <a:pt x="1266248" y="36768"/>
                    <a:pt x="1266248" y="82125"/>
                  </a:cubicBezTo>
                  <a:lnTo>
                    <a:pt x="1266248" y="728891"/>
                  </a:lnTo>
                  <a:cubicBezTo>
                    <a:pt x="1266248" y="750672"/>
                    <a:pt x="1257596" y="771561"/>
                    <a:pt x="1242195" y="786962"/>
                  </a:cubicBezTo>
                  <a:cubicBezTo>
                    <a:pt x="1226793" y="802363"/>
                    <a:pt x="1205904" y="811016"/>
                    <a:pt x="1184124" y="811016"/>
                  </a:cubicBezTo>
                  <a:lnTo>
                    <a:pt x="82125" y="811016"/>
                  </a:lnTo>
                  <a:cubicBezTo>
                    <a:pt x="60344" y="811016"/>
                    <a:pt x="39455" y="802363"/>
                    <a:pt x="24054" y="786962"/>
                  </a:cubicBezTo>
                  <a:cubicBezTo>
                    <a:pt x="8652" y="771561"/>
                    <a:pt x="0" y="750672"/>
                    <a:pt x="0" y="728891"/>
                  </a:cubicBezTo>
                  <a:lnTo>
                    <a:pt x="0" y="82125"/>
                  </a:lnTo>
                  <a:cubicBezTo>
                    <a:pt x="0" y="60344"/>
                    <a:pt x="8652" y="39455"/>
                    <a:pt x="24054" y="24054"/>
                  </a:cubicBezTo>
                  <a:cubicBezTo>
                    <a:pt x="39455" y="8652"/>
                    <a:pt x="60344" y="0"/>
                    <a:pt x="82125" y="0"/>
                  </a:cubicBezTo>
                  <a:close/>
                </a:path>
              </a:pathLst>
            </a:custGeom>
            <a:solidFill>
              <a:srgbClr val="2E189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266248" cy="8491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035177" y="3861970"/>
            <a:ext cx="4552045" cy="459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0"/>
              </a:lnSpc>
              <a:spcBef>
                <a:spcPct val="0"/>
              </a:spcBef>
            </a:pPr>
            <a:r>
              <a:rPr lang="en-US" sz="3219" b="1" spc="5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Usuario Final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971241" y="4582361"/>
            <a:ext cx="4679916" cy="1727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5"/>
              </a:lnSpc>
              <a:spcBef>
                <a:spcPct val="0"/>
              </a:spcBef>
            </a:pPr>
            <a:r>
              <a:rPr lang="en-US" sz="2486" spc="3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Experiencia fluida para la creación de pedidos y seguimiento de transacciones en tiempo real con tiempos de carga mínimos.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64454" y="1085850"/>
            <a:ext cx="10959093" cy="930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spc="104">
                <a:solidFill>
                  <a:srgbClr val="FFFFFF"/>
                </a:solidFill>
                <a:latin typeface="Formula"/>
                <a:ea typeface="Formula"/>
                <a:cs typeface="Formula"/>
                <a:sym typeface="Formula"/>
              </a:rPr>
              <a:t>Métricas de Éxito y Rendimiento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2058" y="2771008"/>
            <a:ext cx="6663884" cy="464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4657" lvl="1" indent="-317328" algn="l">
              <a:lnSpc>
                <a:spcPts val="4115"/>
              </a:lnSpc>
              <a:buFont typeface="Arial"/>
              <a:buChar char="•"/>
            </a:pPr>
            <a:r>
              <a:rPr lang="en-US" sz="2939" spc="58">
                <a:solidFill>
                  <a:srgbClr val="F1F5FF"/>
                </a:solidFill>
                <a:latin typeface="Telegraf"/>
                <a:ea typeface="Telegraf"/>
                <a:cs typeface="Telegraf"/>
                <a:sym typeface="Telegraf"/>
              </a:rPr>
              <a:t>Tiempo de respuesta: Transacciones procesadas en menos de 1 segundo.</a:t>
            </a:r>
          </a:p>
          <a:p>
            <a:pPr marL="634657" lvl="1" indent="-317328" algn="l">
              <a:lnSpc>
                <a:spcPts val="4115"/>
              </a:lnSpc>
              <a:buFont typeface="Arial"/>
              <a:buChar char="•"/>
            </a:pPr>
            <a:r>
              <a:rPr lang="en-US" sz="2939" spc="58">
                <a:solidFill>
                  <a:srgbClr val="F1F5FF"/>
                </a:solidFill>
                <a:latin typeface="Telegraf"/>
                <a:ea typeface="Telegraf"/>
                <a:cs typeface="Telegraf"/>
                <a:sym typeface="Telegraf"/>
              </a:rPr>
              <a:t>Escalabilidad: Capacidad de replicar servicios según demanda de tráfico.</a:t>
            </a:r>
          </a:p>
          <a:p>
            <a:pPr marL="634657" lvl="1" indent="-317328" algn="l">
              <a:lnSpc>
                <a:spcPts val="4115"/>
              </a:lnSpc>
              <a:buFont typeface="Arial"/>
              <a:buChar char="•"/>
            </a:pPr>
            <a:r>
              <a:rPr lang="en-US" sz="2939" spc="58">
                <a:solidFill>
                  <a:srgbClr val="F1F5FF"/>
                </a:solidFill>
                <a:latin typeface="Telegraf"/>
                <a:ea typeface="Telegraf"/>
                <a:cs typeface="Telegraf"/>
                <a:sym typeface="Telegraf"/>
              </a:rPr>
              <a:t>Seguridad: Implementación de estándares JWT para protección de datos.</a:t>
            </a:r>
          </a:p>
        </p:txBody>
      </p:sp>
      <p:sp>
        <p:nvSpPr>
          <p:cNvPr id="4" name="Freeform 4"/>
          <p:cNvSpPr/>
          <p:nvPr/>
        </p:nvSpPr>
        <p:spPr>
          <a:xfrm flipV="1">
            <a:off x="0" y="-164477"/>
            <a:ext cx="1930167" cy="10615954"/>
          </a:xfrm>
          <a:custGeom>
            <a:avLst/>
            <a:gdLst/>
            <a:ahLst/>
            <a:cxnLst/>
            <a:rect l="l" t="t" r="r" b="b"/>
            <a:pathLst>
              <a:path w="1930167" h="10615954">
                <a:moveTo>
                  <a:pt x="0" y="10615954"/>
                </a:moveTo>
                <a:lnTo>
                  <a:pt x="1930167" y="10615954"/>
                </a:lnTo>
                <a:lnTo>
                  <a:pt x="1930167" y="0"/>
                </a:lnTo>
                <a:lnTo>
                  <a:pt x="0" y="0"/>
                </a:lnTo>
                <a:lnTo>
                  <a:pt x="0" y="10615954"/>
                </a:lnTo>
                <a:close/>
              </a:path>
            </a:pathLst>
          </a:custGeom>
          <a:blipFill>
            <a:blip r:embed="rId3"/>
            <a:stretch>
              <a:fillRect l="-243095" r="-573574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-164477"/>
            <a:ext cx="1930167" cy="10615954"/>
          </a:xfrm>
          <a:custGeom>
            <a:avLst/>
            <a:gdLst/>
            <a:ahLst/>
            <a:cxnLst/>
            <a:rect l="l" t="t" r="r" b="b"/>
            <a:pathLst>
              <a:path w="1930167" h="10615954">
                <a:moveTo>
                  <a:pt x="0" y="10615954"/>
                </a:moveTo>
                <a:lnTo>
                  <a:pt x="1930167" y="10615954"/>
                </a:lnTo>
                <a:lnTo>
                  <a:pt x="1930167" y="0"/>
                </a:lnTo>
                <a:lnTo>
                  <a:pt x="0" y="0"/>
                </a:lnTo>
                <a:lnTo>
                  <a:pt x="0" y="10615954"/>
                </a:lnTo>
                <a:close/>
              </a:path>
            </a:pathLst>
          </a:custGeom>
          <a:blipFill>
            <a:blip r:embed="rId3"/>
            <a:stretch>
              <a:fillRect l="-243095" r="-573574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13226017" y="914144"/>
            <a:ext cx="5061983" cy="8458712"/>
            <a:chOff x="0" y="0"/>
            <a:chExt cx="6749310" cy="11278283"/>
          </a:xfrm>
        </p:grpSpPr>
        <p:sp>
          <p:nvSpPr>
            <p:cNvPr id="4" name="Freeform 4"/>
            <p:cNvSpPr/>
            <p:nvPr/>
          </p:nvSpPr>
          <p:spPr>
            <a:xfrm>
              <a:off x="1623224" y="8160737"/>
              <a:ext cx="3502861" cy="3117547"/>
            </a:xfrm>
            <a:custGeom>
              <a:avLst/>
              <a:gdLst/>
              <a:ahLst/>
              <a:cxnLst/>
              <a:rect l="l" t="t" r="r" b="b"/>
              <a:pathLst>
                <a:path w="3502861" h="3117547">
                  <a:moveTo>
                    <a:pt x="0" y="0"/>
                  </a:moveTo>
                  <a:lnTo>
                    <a:pt x="3502862" y="0"/>
                  </a:lnTo>
                  <a:lnTo>
                    <a:pt x="3502862" y="3117546"/>
                  </a:lnTo>
                  <a:lnTo>
                    <a:pt x="0" y="3117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4294680"/>
              <a:ext cx="6749310" cy="3551824"/>
            </a:xfrm>
            <a:custGeom>
              <a:avLst/>
              <a:gdLst/>
              <a:ahLst/>
              <a:cxnLst/>
              <a:rect l="l" t="t" r="r" b="b"/>
              <a:pathLst>
                <a:path w="6749310" h="3551824">
                  <a:moveTo>
                    <a:pt x="0" y="0"/>
                  </a:moveTo>
                  <a:lnTo>
                    <a:pt x="6749310" y="0"/>
                  </a:lnTo>
                  <a:lnTo>
                    <a:pt x="6749310" y="3551824"/>
                  </a:lnTo>
                  <a:lnTo>
                    <a:pt x="0" y="3551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Freeform 6"/>
            <p:cNvSpPr/>
            <p:nvPr/>
          </p:nvSpPr>
          <p:spPr>
            <a:xfrm>
              <a:off x="721024" y="0"/>
              <a:ext cx="5307263" cy="3980447"/>
            </a:xfrm>
            <a:custGeom>
              <a:avLst/>
              <a:gdLst/>
              <a:ahLst/>
              <a:cxnLst/>
              <a:rect l="l" t="t" r="r" b="b"/>
              <a:pathLst>
                <a:path w="5307263" h="3980447">
                  <a:moveTo>
                    <a:pt x="0" y="0"/>
                  </a:moveTo>
                  <a:lnTo>
                    <a:pt x="5307263" y="0"/>
                  </a:lnTo>
                  <a:lnTo>
                    <a:pt x="5307263" y="3980447"/>
                  </a:lnTo>
                  <a:lnTo>
                    <a:pt x="0" y="3980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664454" y="1085850"/>
            <a:ext cx="10959093" cy="930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spc="104">
                <a:solidFill>
                  <a:srgbClr val="FFFFFF"/>
                </a:solidFill>
                <a:latin typeface="Formula"/>
                <a:ea typeface="Formula"/>
                <a:cs typeface="Formula"/>
                <a:sym typeface="Formula"/>
              </a:rPr>
              <a:t>Stack Tecnológico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12058" y="3799708"/>
            <a:ext cx="6663884" cy="2592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4657" lvl="1" indent="-317328" algn="l">
              <a:lnSpc>
                <a:spcPts val="4115"/>
              </a:lnSpc>
              <a:buFont typeface="Arial"/>
              <a:buChar char="•"/>
            </a:pPr>
            <a:r>
              <a:rPr lang="en-US" sz="2939" spc="58">
                <a:solidFill>
                  <a:srgbClr val="F1F5FF"/>
                </a:solidFill>
                <a:latin typeface="Telegraf"/>
                <a:ea typeface="Telegraf"/>
                <a:cs typeface="Telegraf"/>
                <a:sym typeface="Telegraf"/>
              </a:rPr>
              <a:t>Backend: Java 21 + Spring Boot 3.</a:t>
            </a:r>
          </a:p>
          <a:p>
            <a:pPr marL="634657" lvl="1" indent="-317328" algn="l">
              <a:lnSpc>
                <a:spcPts val="4115"/>
              </a:lnSpc>
              <a:buFont typeface="Arial"/>
              <a:buChar char="•"/>
            </a:pPr>
            <a:r>
              <a:rPr lang="en-US" sz="2939" spc="58">
                <a:solidFill>
                  <a:srgbClr val="F1F5FF"/>
                </a:solidFill>
                <a:latin typeface="Telegraf"/>
                <a:ea typeface="Telegraf"/>
                <a:cs typeface="Telegraf"/>
                <a:sym typeface="Telegraf"/>
              </a:rPr>
              <a:t>Frontend: React (Consumo mediante el orquestador BFF).</a:t>
            </a:r>
          </a:p>
          <a:p>
            <a:pPr marL="634657" lvl="1" indent="-317328" algn="l">
              <a:lnSpc>
                <a:spcPts val="4115"/>
              </a:lnSpc>
              <a:buFont typeface="Arial"/>
              <a:buChar char="•"/>
            </a:pPr>
            <a:r>
              <a:rPr lang="en-US" sz="2939" spc="58">
                <a:solidFill>
                  <a:srgbClr val="F1F5FF"/>
                </a:solidFill>
                <a:latin typeface="Telegraf"/>
                <a:ea typeface="Telegraf"/>
                <a:cs typeface="Telegraf"/>
                <a:sym typeface="Telegraf"/>
              </a:rPr>
              <a:t>Herramientas: Git, Laragon, MySQL y PlantUML.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8743" y="1338137"/>
            <a:ext cx="18785486" cy="9966896"/>
          </a:xfrm>
          <a:custGeom>
            <a:avLst/>
            <a:gdLst/>
            <a:ahLst/>
            <a:cxnLst/>
            <a:rect l="l" t="t" r="r" b="b"/>
            <a:pathLst>
              <a:path w="18785486" h="9966896">
                <a:moveTo>
                  <a:pt x="0" y="0"/>
                </a:moveTo>
                <a:lnTo>
                  <a:pt x="18785486" y="0"/>
                </a:lnTo>
                <a:lnTo>
                  <a:pt x="18785486" y="9966895"/>
                </a:lnTo>
                <a:lnTo>
                  <a:pt x="0" y="99668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73164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2208154" y="2947398"/>
            <a:ext cx="13871692" cy="5007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26"/>
              </a:lnSpc>
              <a:spcBef>
                <a:spcPct val="0"/>
              </a:spcBef>
            </a:pPr>
            <a:r>
              <a:rPr lang="en-US" sz="14375" spc="287">
                <a:solidFill>
                  <a:srgbClr val="F1F5FF"/>
                </a:solidFill>
                <a:latin typeface="Formula"/>
                <a:ea typeface="Formula"/>
                <a:cs typeface="Formula"/>
                <a:sym typeface="Formula"/>
              </a:rPr>
              <a:t>Gracias por su Atención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914</Words>
  <Application>Microsoft Office PowerPoint</Application>
  <PresentationFormat>Custom</PresentationFormat>
  <Paragraphs>76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Telegraf</vt:lpstr>
      <vt:lpstr>Arial</vt:lpstr>
      <vt:lpstr>Telegraf Medium</vt:lpstr>
      <vt:lpstr>Open Sans</vt:lpstr>
      <vt:lpstr>Formula</vt:lpstr>
      <vt:lpstr>Calibri</vt:lpstr>
      <vt:lpstr>Formula Bold</vt:lpstr>
      <vt:lpstr>Open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SmartLogix: Gestión Distribuida de Inventarios PPT</dc:title>
  <cp:lastModifiedBy>DIEGO FERNANDO LAZO TOBAR</cp:lastModifiedBy>
  <cp:revision>3</cp:revision>
  <dcterms:created xsi:type="dcterms:W3CDTF">2006-08-16T00:00:00Z</dcterms:created>
  <dcterms:modified xsi:type="dcterms:W3CDTF">2026-05-11T01:16:20Z</dcterms:modified>
  <dc:identifier>DAHFWjVF0Do</dc:identifier>
</cp:coreProperties>
</file>